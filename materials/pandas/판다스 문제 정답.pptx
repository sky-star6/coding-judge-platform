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50" autoAdjust="0"/>
    <p:restoredTop sz="94660"/>
  </p:normalViewPr>
  <p:slideViewPr>
    <p:cSldViewPr snapToGrid="0">
      <p:cViewPr>
        <p:scale>
          <a:sx n="66" d="100"/>
          <a:sy n="66" d="100"/>
        </p:scale>
        <p:origin x="2909" y="-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15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37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7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46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15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76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92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25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2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46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6049E-3247-4113-817A-85DC41214AB9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E067C-0BC6-43C1-8D9D-11C80451A4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08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E0D241-7E46-492B-0935-6E26836451AC}"/>
              </a:ext>
            </a:extLst>
          </p:cNvPr>
          <p:cNvSpPr txBox="1"/>
          <p:nvPr/>
        </p:nvSpPr>
        <p:spPr>
          <a:xfrm>
            <a:off x="642938" y="7143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EF398-7A30-F8AA-D563-148796DC3D37}"/>
              </a:ext>
            </a:extLst>
          </p:cNvPr>
          <p:cNvSpPr txBox="1"/>
          <p:nvPr/>
        </p:nvSpPr>
        <p:spPr>
          <a:xfrm>
            <a:off x="0" y="0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Module 5. CSV </a:t>
            </a:r>
            <a:r>
              <a:rPr lang="ko-KR" altLang="en-US" dirty="0"/>
              <a:t>데이터 분석 </a:t>
            </a:r>
            <a:r>
              <a:rPr lang="en-US" altLang="ko-KR" dirty="0"/>
              <a:t>- </a:t>
            </a:r>
            <a:r>
              <a:rPr lang="ko-KR" altLang="en-US" dirty="0"/>
              <a:t>도전 문제 정답 코드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7AE73-EF89-E936-3018-C0AC4E34BFAD}"/>
              </a:ext>
            </a:extLst>
          </p:cNvPr>
          <p:cNvSpPr txBox="1"/>
          <p:nvPr/>
        </p:nvSpPr>
        <p:spPr>
          <a:xfrm>
            <a:off x="0" y="369332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실습 </a:t>
            </a:r>
            <a:r>
              <a:rPr lang="en-US" altLang="ko-KR" sz="1400" dirty="0"/>
              <a:t>1: </a:t>
            </a:r>
            <a:r>
              <a:rPr lang="ko-KR" altLang="en-US" sz="1400" dirty="0"/>
              <a:t>전국 학교 데이터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DF6F0-8445-127F-EA92-658518BEFB34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문제 </a:t>
            </a:r>
            <a:r>
              <a:rPr lang="en-US" altLang="ko-KR" sz="1200" dirty="0"/>
              <a:t>1: </a:t>
            </a:r>
            <a:r>
              <a:rPr lang="ko-KR" altLang="en-US" sz="1200" dirty="0" err="1"/>
              <a:t>학교급구분별</a:t>
            </a:r>
            <a:r>
              <a:rPr lang="en-US" altLang="ko-KR" sz="1200" dirty="0"/>
              <a:t>(</a:t>
            </a:r>
            <a:r>
              <a:rPr lang="ko-KR" altLang="en-US" sz="1200" dirty="0"/>
              <a:t>초</a:t>
            </a:r>
            <a:r>
              <a:rPr lang="en-US" altLang="ko-KR" sz="1200" dirty="0"/>
              <a:t>/</a:t>
            </a:r>
            <a:r>
              <a:rPr lang="ko-KR" altLang="en-US" sz="1200" dirty="0"/>
              <a:t>중</a:t>
            </a:r>
            <a:r>
              <a:rPr lang="en-US" altLang="ko-KR" sz="1200" dirty="0"/>
              <a:t>/</a:t>
            </a:r>
            <a:r>
              <a:rPr lang="ko-KR" altLang="en-US" sz="1200" dirty="0"/>
              <a:t>고</a:t>
            </a:r>
            <a:r>
              <a:rPr lang="en-US" altLang="ko-KR" sz="1200" dirty="0"/>
              <a:t>) </a:t>
            </a:r>
            <a:r>
              <a:rPr lang="ko-KR" altLang="en-US" sz="1200" dirty="0"/>
              <a:t>학교 수를 막대 그래프로 그리기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21558-8569-1B34-5D0B-E2BED2E9A9C0}"/>
              </a:ext>
            </a:extLst>
          </p:cNvPr>
          <p:cNvSpPr txBox="1"/>
          <p:nvPr/>
        </p:nvSpPr>
        <p:spPr>
          <a:xfrm>
            <a:off x="0" y="1136846"/>
            <a:ext cx="6858000" cy="4750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pandas </a:t>
            </a:r>
            <a:r>
              <a:rPr lang="en-US" altLang="ko-KR" sz="105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pd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matplotlib.pyplot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</a:t>
            </a: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plt.rc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'font'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family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 err="1">
                <a:solidFill>
                  <a:srgbClr val="0A3069"/>
                </a:solidFill>
                <a:latin typeface="Consolas" panose="020B0609020204030204" pitchFamily="49" charset="0"/>
              </a:rPr>
              <a:t>Malgun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 Gothic'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plt.rcParams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 err="1">
                <a:solidFill>
                  <a:srgbClr val="0A3069"/>
                </a:solidFill>
                <a:latin typeface="Consolas" panose="020B0609020204030204" pitchFamily="49" charset="0"/>
              </a:rPr>
              <a:t>axes.unicode_minus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# 1. CSV 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파일 읽기</a:t>
            </a:r>
            <a:endParaRPr lang="ko-KR" altLang="en-US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pd.read_csv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 err="1">
                <a:solidFill>
                  <a:srgbClr val="0A3069"/>
                </a:solidFill>
                <a:latin typeface="Consolas" panose="020B0609020204030204" pitchFamily="49" charset="0"/>
              </a:rPr>
              <a:t>전국초중등학교위치표준데이터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.csv'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50" dirty="0" err="1">
                <a:solidFill>
                  <a:srgbClr val="6E7781"/>
                </a:solidFill>
                <a:latin typeface="Consolas" panose="020B0609020204030204" pitchFamily="49" charset="0"/>
              </a:rPr>
              <a:t>학교급구분별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 학교 수 집계</a:t>
            </a:r>
            <a:endParaRPr lang="ko-KR" altLang="en-US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#    - </a:t>
            </a:r>
            <a:r>
              <a:rPr lang="en-US" altLang="ko-KR" sz="1050" dirty="0" err="1">
                <a:solidFill>
                  <a:srgbClr val="6E7781"/>
                </a:solidFill>
                <a:latin typeface="Consolas" panose="020B0609020204030204" pitchFamily="49" charset="0"/>
              </a:rPr>
              <a:t>groupby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의 기준을 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시도교육청명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' 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대신 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 err="1">
                <a:solidFill>
                  <a:srgbClr val="6E7781"/>
                </a:solidFill>
                <a:latin typeface="Consolas" panose="020B0609020204030204" pitchFamily="49" charset="0"/>
              </a:rPr>
              <a:t>학교급구분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으로 변경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!</a:t>
            </a:r>
            <a:endParaRPr lang="ko-KR" altLang="en-US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school_type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df.groupby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 err="1">
                <a:solidFill>
                  <a:srgbClr val="0A3069"/>
                </a:solidFill>
                <a:latin typeface="Consolas" panose="020B0609020204030204" pitchFamily="49" charset="0"/>
              </a:rPr>
              <a:t>학교급구분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).size().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sort_values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ascending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school_type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시각화 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학교급별 막대 그래프</a:t>
            </a:r>
            <a:endParaRPr lang="ko-KR" altLang="en-US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plt.figure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 err="1">
                <a:solidFill>
                  <a:srgbClr val="953800"/>
                </a:solidFill>
                <a:latin typeface="Consolas" panose="020B0609020204030204" pitchFamily="49" charset="0"/>
              </a:rPr>
              <a:t>figsize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school_type.plot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kind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'bar'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color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'#3B82F6'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'#8B5CF6'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'#EC4899'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'#10B981'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plt.title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>
                <a:solidFill>
                  <a:srgbClr val="0A3069"/>
                </a:solidFill>
                <a:latin typeface="Consolas" panose="020B0609020204030204" pitchFamily="49" charset="0"/>
              </a:rPr>
              <a:t>학교급별 학교 수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 err="1">
                <a:solidFill>
                  <a:srgbClr val="953800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 dirty="0" err="1">
                <a:solidFill>
                  <a:srgbClr val="953800"/>
                </a:solidFill>
                <a:latin typeface="Consolas" panose="020B0609020204030204" pitchFamily="49" charset="0"/>
              </a:rPr>
              <a:t>fontweight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'bold'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plt.ylabel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50" dirty="0">
                <a:solidFill>
                  <a:srgbClr val="0A3069"/>
                </a:solidFill>
                <a:latin typeface="Consolas" panose="020B0609020204030204" pitchFamily="49" charset="0"/>
              </a:rPr>
              <a:t>학교 수</a:t>
            </a:r>
            <a:r>
              <a:rPr lang="en-US" altLang="ko-KR" sz="105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plt.xticks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 dirty="0">
                <a:solidFill>
                  <a:srgbClr val="953800"/>
                </a:solidFill>
                <a:latin typeface="Consolas" panose="020B0609020204030204" pitchFamily="49" charset="0"/>
              </a:rPr>
              <a:t>rotation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)       </a:t>
            </a:r>
            <a:r>
              <a:rPr lang="en-US" altLang="ko-KR" sz="105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050" dirty="0">
                <a:solidFill>
                  <a:srgbClr val="6E7781"/>
                </a:solidFill>
                <a:latin typeface="Consolas" panose="020B0609020204030204" pitchFamily="49" charset="0"/>
              </a:rPr>
              <a:t>글자가 짧으니 회전 안 해도 됨</a:t>
            </a:r>
            <a:endParaRPr lang="ko-KR" altLang="en-US" sz="105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plt.tight_layout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dirty="0" err="1">
                <a:solidFill>
                  <a:srgbClr val="202020"/>
                </a:solidFill>
                <a:latin typeface="Consolas" panose="020B0609020204030204" pitchFamily="49" charset="0"/>
              </a:rPr>
              <a:t>plt.show</a:t>
            </a:r>
            <a:r>
              <a:rPr lang="en-US" altLang="ko-KR" sz="105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endParaRPr lang="en-US" altLang="ko-KR" sz="105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01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90A3-66E1-EC69-9253-60FFBF93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FD3E3E-B04A-84EE-CDB0-DB0091C2E057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문제 </a:t>
            </a:r>
            <a:r>
              <a:rPr lang="en-US" altLang="ko-KR" sz="1200" dirty="0"/>
              <a:t>2: </a:t>
            </a:r>
            <a:r>
              <a:rPr lang="ko-KR" altLang="en-US" sz="1200" dirty="0"/>
              <a:t>서울 학교만 필터링 → 학교급별 파이 차트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02800-7265-AD17-18AF-9675BEDB421A}"/>
              </a:ext>
            </a:extLst>
          </p:cNvPr>
          <p:cNvSpPr txBox="1"/>
          <p:nvPr/>
        </p:nvSpPr>
        <p:spPr>
          <a:xfrm>
            <a:off x="-1" y="1019949"/>
            <a:ext cx="6857999" cy="618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pandas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matplotlib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pyplot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rc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'font'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family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Malgun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 Gothic'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rcParams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axes.unicode_minus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1. CSV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파일 읽기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read_csv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전국초중등학교위치표준데이터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.csv'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서울 학교만 필터링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   -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컬럼명은 실제 파일에 따라 다를 수 있음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확인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df.columns.tolist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())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seoul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시도교육청명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서울특별시교육청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서울 내 학교급별 집계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seoul_type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seoul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groupby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학교급구분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size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seoul_type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4.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파이 차트로 시각화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figure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figsize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seoul_type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kind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'pie'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                   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파이 차트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autopct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%1.1f%%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           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퍼센트 표시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colors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'#3B82F6'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'#8B5CF6'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'#EC4899'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'#10B981'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startangle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                 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12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 방향부터 시작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 학교급별 비율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fontweight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'bold'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ylabel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                    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y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축 라벨 제거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파이차트에선 불필요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)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endParaRPr lang="en-US" altLang="ko-KR" sz="1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88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EF714-943B-1113-5004-2FFF4323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93D3D-CA37-1425-1993-E8E4D4057984}"/>
              </a:ext>
            </a:extLst>
          </p:cNvPr>
          <p:cNvSpPr txBox="1"/>
          <p:nvPr/>
        </p:nvSpPr>
        <p:spPr>
          <a:xfrm>
            <a:off x="0" y="369332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실습 </a:t>
            </a:r>
            <a:r>
              <a:rPr lang="en-US" altLang="ko-KR" sz="1400" dirty="0"/>
              <a:t>2: </a:t>
            </a:r>
            <a:r>
              <a:rPr lang="ko-KR" altLang="en-US" sz="1400" dirty="0"/>
              <a:t>기상 관측 데이터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3B02E-DE41-1319-B767-1F4C30E22055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■ 문제 </a:t>
            </a:r>
            <a:r>
              <a:rPr lang="en-US" altLang="ko-KR" sz="1200" dirty="0"/>
              <a:t>1: </a:t>
            </a:r>
            <a:r>
              <a:rPr lang="ko-KR" altLang="en-US" sz="1200" dirty="0"/>
              <a:t>시간별 평균 풍속</a:t>
            </a:r>
            <a:r>
              <a:rPr lang="en-US" altLang="ko-KR" sz="1200" dirty="0"/>
              <a:t>(m/s)</a:t>
            </a:r>
            <a:r>
              <a:rPr lang="ko-KR" altLang="en-US" sz="1200" dirty="0"/>
              <a:t>을 꺾은선 그래프로 그리기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E81B-7B1D-75D2-79F5-C9D85393F520}"/>
              </a:ext>
            </a:extLst>
          </p:cNvPr>
          <p:cNvSpPr txBox="1"/>
          <p:nvPr/>
        </p:nvSpPr>
        <p:spPr>
          <a:xfrm>
            <a:off x="-1" y="1028640"/>
            <a:ext cx="6857999" cy="5825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pandas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matplotlib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pyplot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rc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'font'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family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Malgun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 Gothic'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rcParams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axes.unicode_minus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기상 데이터 읽기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read_csv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'OBS_ASOS_TIM_20260619142325.csv'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시간별 평균 풍속 계산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to_datetime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]).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hourly_wind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groupby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풍속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(m/s)'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시각화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시간별 평균 풍속 변화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figure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figsize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hourly_wind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hourly_wind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marker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'^'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color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'#10B981'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linewidth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label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평균 풍속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시간별 평균 풍속 변화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fontweight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'bold'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xlabel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ylabel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풍속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(m/s)'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xticks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grid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0.3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legend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br>
              <a:rPr lang="en-US" altLang="ko-KR" sz="10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9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75C-88F4-94CD-E77E-01D0C736F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50087-6A6F-7CF0-6EC6-917F1376F756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■ 문제 </a:t>
            </a:r>
            <a:r>
              <a:rPr lang="en-US" altLang="ko-KR" sz="1200" dirty="0"/>
              <a:t>2: </a:t>
            </a:r>
            <a:r>
              <a:rPr lang="ko-KR" altLang="en-US" sz="1200" dirty="0"/>
              <a:t>특정 일자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17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r>
              <a:rPr lang="ko-KR" altLang="en-US" sz="1200" dirty="0"/>
              <a:t>의 시간별 기온만 필터링하여 그래프 그리기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C193E-E253-34E3-C7A8-D4A2ABEDE8F7}"/>
              </a:ext>
            </a:extLst>
          </p:cNvPr>
          <p:cNvSpPr txBox="1"/>
          <p:nvPr/>
        </p:nvSpPr>
        <p:spPr>
          <a:xfrm>
            <a:off x="0" y="1243130"/>
            <a:ext cx="6858000" cy="7082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pandas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matplotlib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pyplot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rc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'font'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family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Malgun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 Gothic'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rcParams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axes.unicode_minus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기상 데이터 읽기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read_csv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'OBS_ASOS_TIM_20260619142325.csv'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일자와 시간을 별도 컬럼으로 추출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일자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to_datetime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]).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date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to_datetime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]).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</a:t>
            </a: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특정 날짜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(2026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년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17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일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)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만 필터링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주의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dt.date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결과는 </a:t>
            </a:r>
            <a:r>
              <a:rPr lang="en-US" altLang="ko-KR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datetime.date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객체이므로 문자열이 아닌 </a:t>
            </a:r>
            <a:r>
              <a:rPr lang="en-US" altLang="ko-KR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pd.to_datetime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으로 비교하거나 문자열 변환 후 비교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일자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문자열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일자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astype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target_day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일자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문자열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'2026-06-17'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4.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시간별 기온 계산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hourly_temp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target_day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groupby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기온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(°C)'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mean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5.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시각화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figure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figsize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hourly_temp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hourly_temp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marker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'o'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color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'#3B82F6'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linewidth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'2026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년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6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월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17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일 시간별 기온 변화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fontweight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'bold'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xlabel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시간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ylabel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기온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(℃)'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xticks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range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grid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0.3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br>
              <a:rPr lang="en-US" altLang="ko-KR" sz="10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92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822A-30AF-35C9-9DC3-D9452691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0A803-B37D-24BB-F5F1-AA646DAE7A19}"/>
              </a:ext>
            </a:extLst>
          </p:cNvPr>
          <p:cNvSpPr txBox="1"/>
          <p:nvPr/>
        </p:nvSpPr>
        <p:spPr>
          <a:xfrm>
            <a:off x="0" y="369332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🏪 실습 </a:t>
            </a:r>
            <a:r>
              <a:rPr lang="en-US" altLang="ko-KR" sz="1400" dirty="0"/>
              <a:t>3: </a:t>
            </a:r>
            <a:r>
              <a:rPr lang="ko-KR" altLang="en-US" sz="1400" dirty="0"/>
              <a:t>서울시 상권 데이터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1BF4B-1BC9-2731-7479-C9DC36416C68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■ 문제 </a:t>
            </a:r>
            <a:r>
              <a:rPr lang="en-US" altLang="ko-KR" sz="1200" dirty="0"/>
              <a:t>1: </a:t>
            </a:r>
            <a:r>
              <a:rPr lang="ko-KR" altLang="en-US" sz="1200" dirty="0"/>
              <a:t>특정 업종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'</a:t>
            </a:r>
            <a:r>
              <a:rPr lang="ko-KR" altLang="en-US" sz="1200" dirty="0"/>
              <a:t>커피</a:t>
            </a:r>
            <a:r>
              <a:rPr lang="en-US" altLang="ko-KR" sz="1200" dirty="0"/>
              <a:t>-</a:t>
            </a:r>
            <a:r>
              <a:rPr lang="ko-KR" altLang="en-US" sz="1200" dirty="0"/>
              <a:t>음료</a:t>
            </a:r>
            <a:r>
              <a:rPr lang="en-US" altLang="ko-KR" sz="1200" dirty="0"/>
              <a:t>')</a:t>
            </a:r>
            <a:r>
              <a:rPr lang="ko-KR" altLang="en-US" sz="1200" dirty="0"/>
              <a:t>만 필터링하여 연도별</a:t>
            </a:r>
            <a:r>
              <a:rPr lang="en-US" altLang="ko-KR" sz="1200" dirty="0"/>
              <a:t>(</a:t>
            </a:r>
            <a:r>
              <a:rPr lang="ko-KR" altLang="en-US" sz="1200" dirty="0"/>
              <a:t>분기별</a:t>
            </a:r>
            <a:r>
              <a:rPr lang="en-US" altLang="ko-KR" sz="1200" dirty="0"/>
              <a:t>) </a:t>
            </a:r>
            <a:r>
              <a:rPr lang="ko-KR" altLang="en-US" sz="1200" dirty="0"/>
              <a:t>점포 수 변화 꺾은선 그래프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045B8-6135-ABB5-0BA5-E4EA98C899AB}"/>
              </a:ext>
            </a:extLst>
          </p:cNvPr>
          <p:cNvSpPr txBox="1"/>
          <p:nvPr/>
        </p:nvSpPr>
        <p:spPr>
          <a:xfrm>
            <a:off x="-1" y="1028640"/>
            <a:ext cx="6857999" cy="600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pandas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matplotlib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pyplot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rc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'font'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family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Malgun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 Gothic'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rcParams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axes.unicode_minus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데이터 읽기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read_csv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 상권분석서비스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).csv'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커피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음료 업종 필터링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coffee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서비스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업종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코드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명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커피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음료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기준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년분기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코드별 전체 점포 수 집계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오름차순 정렬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)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시간의 흐름대로 보려면 기준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 err="1">
                <a:solidFill>
                  <a:srgbClr val="6E7781"/>
                </a:solidFill>
                <a:latin typeface="Consolas" panose="020B0609020204030204" pitchFamily="49" charset="0"/>
              </a:rPr>
              <a:t>년분기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코드를 정렬해야 합니다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.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coffee_trend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coffee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groupby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기준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년분기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코드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전체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sort_index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4.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시각화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-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꺾은선 그래프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figure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figsize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x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축 데이터가 문자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/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숫자 섞인 형태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(20261)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이므로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index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를 문자열로 바꿔서 출력하면 예쁩니다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.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plot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coffee_trend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astype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str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),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coffee_trend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marker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'o'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color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'#8B5CF6'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linewidth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 커피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음료 점포 수 변화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fontsize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14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 err="1">
                <a:solidFill>
                  <a:srgbClr val="953800"/>
                </a:solidFill>
                <a:latin typeface="Consolas" panose="020B0609020204030204" pitchFamily="49" charset="0"/>
              </a:rPr>
              <a:t>fontweight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'bold'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ylabel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전체 점포 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xticks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rotation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45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grid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0.3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tight_layout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plt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show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  <a:br>
              <a:rPr lang="en-US" altLang="ko-KR" sz="10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7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7B-2E68-8625-17CD-7752BFC5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FE851-F816-B630-BCEF-058660A69C20}"/>
              </a:ext>
            </a:extLst>
          </p:cNvPr>
          <p:cNvSpPr txBox="1"/>
          <p:nvPr/>
        </p:nvSpPr>
        <p:spPr>
          <a:xfrm>
            <a:off x="0" y="714375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■ 문제 </a:t>
            </a:r>
            <a:r>
              <a:rPr lang="en-US" altLang="ko-KR" sz="1200" dirty="0"/>
              <a:t>2: </a:t>
            </a:r>
            <a:r>
              <a:rPr lang="ko-KR" altLang="en-US" sz="1200" dirty="0"/>
              <a:t>최근 분기 기준 프랜차이즈 비율이 가장 높은 상위 </a:t>
            </a:r>
            <a:r>
              <a:rPr lang="en-US" altLang="ko-KR" sz="1200" dirty="0"/>
              <a:t>5</a:t>
            </a:r>
            <a:r>
              <a:rPr lang="ko-KR" altLang="en-US" sz="1200" dirty="0"/>
              <a:t>개 업종 출력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ABDED-398E-99AB-0BC1-619443910AE0}"/>
              </a:ext>
            </a:extLst>
          </p:cNvPr>
          <p:cNvSpPr txBox="1"/>
          <p:nvPr/>
        </p:nvSpPr>
        <p:spPr>
          <a:xfrm>
            <a:off x="0" y="1184883"/>
            <a:ext cx="6858000" cy="510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pandas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1.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데이터 읽기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267F99"/>
                </a:solidFill>
                <a:latin typeface="Consolas" panose="020B0609020204030204" pitchFamily="49" charset="0"/>
              </a:rPr>
              <a:t>pd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read_csv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 상권분석서비스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서울시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).csv'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encoding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'cp949'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2.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최근 분기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(20261)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데이터 필터링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recent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df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기준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 err="1">
                <a:solidFill>
                  <a:srgbClr val="0A3069"/>
                </a:solidFill>
                <a:latin typeface="Consolas" panose="020B0609020204030204" pitchFamily="49" charset="0"/>
              </a:rPr>
              <a:t>년분기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코드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20261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copy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3.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프랜차이즈 비율 계산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recent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비율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recent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 </a:t>
            </a:r>
            <a:r>
              <a:rPr lang="en-US" altLang="ko-KR" sz="1000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recent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전체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]) </a:t>
            </a:r>
            <a:r>
              <a:rPr lang="ko-KR" altLang="en-US" sz="1000" dirty="0">
                <a:solidFill>
                  <a:srgbClr val="795E26"/>
                </a:solidFill>
                <a:latin typeface="Consolas" panose="020B0609020204030204" pitchFamily="49" charset="0"/>
              </a:rPr>
              <a:t>*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4.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프랜차이즈 비율을 기준으로 내림차순 정렬 후 상위 </a:t>
            </a: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5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개 추출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top5_franchise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recent</a:t>
            </a:r>
            <a:r>
              <a:rPr lang="en-US" altLang="ko-KR" sz="1000" dirty="0" err="1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 err="1">
                <a:solidFill>
                  <a:srgbClr val="8250DF"/>
                </a:solidFill>
                <a:latin typeface="Consolas" panose="020B0609020204030204" pitchFamily="49" charset="0"/>
              </a:rPr>
              <a:t>sort_values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비율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953800"/>
                </a:solidFill>
                <a:latin typeface="Consolas" panose="020B0609020204030204" pitchFamily="49" charset="0"/>
              </a:rPr>
              <a:t>ascending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head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altLang="ko-KR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6E7781"/>
                </a:solidFill>
                <a:latin typeface="Consolas" panose="020B0609020204030204" pitchFamily="49" charset="0"/>
              </a:rPr>
              <a:t># 5. </a:t>
            </a:r>
            <a:r>
              <a:rPr lang="ko-KR" altLang="en-US" sz="1000" dirty="0">
                <a:solidFill>
                  <a:srgbClr val="6E7781"/>
                </a:solidFill>
                <a:latin typeface="Consolas" panose="020B0609020204030204" pitchFamily="49" charset="0"/>
              </a:rPr>
              <a:t>결과 출력</a:t>
            </a:r>
            <a:endParaRPr lang="ko-KR" altLang="en-US" sz="1000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"=== 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 비율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TOP 5 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업종 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==="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row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top5_franchise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iterrows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name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서비스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업종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코드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명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ratio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비율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total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전체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fran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en-US" sz="1000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row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프랜차이즈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점포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_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수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00" dirty="0">
                <a:solidFill>
                  <a:srgbClr val="8250DF"/>
                </a:solidFill>
                <a:latin typeface="Consolas" panose="020B0609020204030204" pitchFamily="49" charset="0"/>
              </a:rPr>
              <a:t>print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f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"- 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ratio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:.1f}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% (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총 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000" dirty="0">
                <a:solidFill>
                  <a:srgbClr val="1F2328"/>
                </a:solidFill>
                <a:latin typeface="Consolas" panose="020B0609020204030204" pitchFamily="49" charset="0"/>
              </a:rPr>
              <a:t>total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}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개 중 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{</a:t>
            </a:r>
            <a:r>
              <a:rPr lang="en-US" altLang="ko-KR" sz="1000" dirty="0" err="1">
                <a:solidFill>
                  <a:srgbClr val="1F2328"/>
                </a:solidFill>
                <a:latin typeface="Consolas" panose="020B0609020204030204" pitchFamily="49" charset="0"/>
              </a:rPr>
              <a:t>fran</a:t>
            </a:r>
            <a:r>
              <a:rPr lang="en-US" altLang="ko-KR" sz="1000" dirty="0">
                <a:solidFill>
                  <a:srgbClr val="CF222E"/>
                </a:solidFill>
                <a:latin typeface="Consolas" panose="020B0609020204030204" pitchFamily="49" charset="0"/>
              </a:rPr>
              <a:t>}</a:t>
            </a:r>
            <a:r>
              <a:rPr lang="ko-KR" altLang="en-US" sz="1000" dirty="0">
                <a:solidFill>
                  <a:srgbClr val="0A3069"/>
                </a:solidFill>
                <a:latin typeface="Consolas" panose="020B0609020204030204" pitchFamily="49" charset="0"/>
              </a:rPr>
              <a:t>개</a:t>
            </a:r>
            <a:r>
              <a:rPr lang="en-US" altLang="ko-KR" sz="1000" dirty="0">
                <a:solidFill>
                  <a:srgbClr val="0A3069"/>
                </a:solidFill>
                <a:latin typeface="Consolas" panose="020B0609020204030204" pitchFamily="49" charset="0"/>
              </a:rPr>
              <a:t>)"</a:t>
            </a:r>
            <a:r>
              <a:rPr lang="en-US" altLang="ko-KR" sz="1000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  <a:br>
              <a:rPr lang="en-US" altLang="ko-KR" sz="10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40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1594</Words>
  <Application>Microsoft Office PowerPoint</Application>
  <PresentationFormat>A4 용지(210x297mm)</PresentationFormat>
  <Paragraphs>165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GunSoo Yuk</dc:creator>
  <cp:lastModifiedBy>GunSoo Yuk</cp:lastModifiedBy>
  <cp:revision>2</cp:revision>
  <dcterms:created xsi:type="dcterms:W3CDTF">2026-05-29T05:34:29Z</dcterms:created>
  <dcterms:modified xsi:type="dcterms:W3CDTF">2026-06-19T05:43:05Z</dcterms:modified>
</cp:coreProperties>
</file>